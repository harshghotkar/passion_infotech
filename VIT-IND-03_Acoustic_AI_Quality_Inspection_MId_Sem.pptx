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93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074CE-62E1-FE0A-06EC-B23DA043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CCA86-6463-7018-3A53-B459F3CD5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A68D0-E87E-A3A9-538B-FA322E488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AF60F-2817-946E-BC81-1E8C45B16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27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279330" cy="27432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3" name="Shape 1"/>
          <p:cNvSpPr/>
          <p:nvPr/>
        </p:nvSpPr>
        <p:spPr>
          <a:xfrm>
            <a:off x="507873" y="1051560"/>
            <a:ext cx="279330" cy="45720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4" name="Shape 2"/>
          <p:cNvSpPr/>
          <p:nvPr/>
        </p:nvSpPr>
        <p:spPr>
          <a:xfrm>
            <a:off x="1015746" y="914400"/>
            <a:ext cx="279330" cy="73152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5" name="Shape 3"/>
          <p:cNvSpPr/>
          <p:nvPr/>
        </p:nvSpPr>
        <p:spPr>
          <a:xfrm>
            <a:off x="1523619" y="1097280"/>
            <a:ext cx="279330" cy="36576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6" name="Shape 4"/>
          <p:cNvSpPr/>
          <p:nvPr/>
        </p:nvSpPr>
        <p:spPr>
          <a:xfrm>
            <a:off x="2031492" y="1005840"/>
            <a:ext cx="279330" cy="54864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7" name="Shape 5"/>
          <p:cNvSpPr/>
          <p:nvPr/>
        </p:nvSpPr>
        <p:spPr>
          <a:xfrm>
            <a:off x="2539365" y="822960"/>
            <a:ext cx="279330" cy="91440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8" name="Shape 6"/>
          <p:cNvSpPr/>
          <p:nvPr/>
        </p:nvSpPr>
        <p:spPr>
          <a:xfrm>
            <a:off x="3047238" y="960120"/>
            <a:ext cx="279330" cy="64008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9" name="Shape 7"/>
          <p:cNvSpPr/>
          <p:nvPr/>
        </p:nvSpPr>
        <p:spPr>
          <a:xfrm>
            <a:off x="3555111" y="1120140"/>
            <a:ext cx="279330" cy="32004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0" name="Shape 8"/>
          <p:cNvSpPr/>
          <p:nvPr/>
        </p:nvSpPr>
        <p:spPr>
          <a:xfrm>
            <a:off x="4062984" y="1028700"/>
            <a:ext cx="279330" cy="50292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0857" y="868680"/>
            <a:ext cx="279330" cy="82296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8730" y="1005840"/>
            <a:ext cx="279330" cy="54864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86603" y="1097280"/>
            <a:ext cx="279330" cy="36576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4476" y="937260"/>
            <a:ext cx="279330" cy="68580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2349" y="822960"/>
            <a:ext cx="279330" cy="91440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10222" y="1051560"/>
            <a:ext cx="279330" cy="45720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18095" y="1143000"/>
            <a:ext cx="279330" cy="27432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982980"/>
            <a:ext cx="279330" cy="59436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3841" y="891540"/>
            <a:ext cx="279330" cy="77724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1714" y="1074420"/>
            <a:ext cx="279330" cy="41148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21" name="Shape 19"/>
          <p:cNvSpPr/>
          <p:nvPr/>
        </p:nvSpPr>
        <p:spPr>
          <a:xfrm>
            <a:off x="9649587" y="1005840"/>
            <a:ext cx="279330" cy="54864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57460" y="845820"/>
            <a:ext cx="279330" cy="86868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65333" y="1051560"/>
            <a:ext cx="279330" cy="45720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73206" y="1120140"/>
            <a:ext cx="279330" cy="32004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81079" y="1028700"/>
            <a:ext cx="279330" cy="502920"/>
          </a:xfrm>
          <a:prstGeom prst="rect">
            <a:avLst/>
          </a:prstGeom>
          <a:solidFill>
            <a:srgbClr val="1E3A3F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2148840"/>
            <a:ext cx="10543032" cy="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VIT-IND-03  •  SMART MANUFACTURING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389088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AI-Based Metal Parts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Inspection &amp; Predictive Maintenance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1605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Area: Smart Manufacturing      |      Domain: Metal Parts &amp; Industrial Quality Inspection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892040"/>
            <a:ext cx="10543032" cy="1581912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5321808"/>
            <a:ext cx="100858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Pradnyan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Dongre – 33</a:t>
            </a:r>
          </a:p>
          <a:p>
            <a:pPr marL="0" indent="0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Gharge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48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Ghotkar – 50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Hiwarkar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- 65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Platform That Listens to Machines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Acoustic Predictive Quality Inspection Platform designed for Industry 4.0 environments.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548640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90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actively “listens” to industrial equipment — CNC machines, lathes, and production lines — using IoT acoustic and vibration sensors to perform Non-Destructive Testing (NDT).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033772"/>
            <a:ext cx="125730" cy="356616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4914900"/>
            <a:ext cx="125730" cy="594360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" y="4736592"/>
            <a:ext cx="125730" cy="950976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4974336"/>
            <a:ext cx="125730" cy="475488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4855464"/>
            <a:ext cx="125730" cy="713232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5" name="Shape 13"/>
          <p:cNvSpPr/>
          <p:nvPr/>
        </p:nvSpPr>
        <p:spPr>
          <a:xfrm>
            <a:off x="1965960" y="4617720"/>
            <a:ext cx="125730" cy="1188720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4560" y="4796028"/>
            <a:ext cx="125730" cy="832104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3160" y="5004054"/>
            <a:ext cx="125730" cy="416052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8" name="Shape 16"/>
          <p:cNvSpPr/>
          <p:nvPr/>
        </p:nvSpPr>
        <p:spPr>
          <a:xfrm>
            <a:off x="2651760" y="4885182"/>
            <a:ext cx="125730" cy="653796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19" name="Shape 17"/>
          <p:cNvSpPr/>
          <p:nvPr/>
        </p:nvSpPr>
        <p:spPr>
          <a:xfrm>
            <a:off x="2880360" y="4677156"/>
            <a:ext cx="125730" cy="1069848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0" name="Shape 18"/>
          <p:cNvSpPr/>
          <p:nvPr/>
        </p:nvSpPr>
        <p:spPr>
          <a:xfrm>
            <a:off x="3108960" y="4855464"/>
            <a:ext cx="125730" cy="713232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37560" y="4974336"/>
            <a:ext cx="125730" cy="475488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766310"/>
            <a:ext cx="125730" cy="891540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3" name="Shape 21"/>
          <p:cNvSpPr/>
          <p:nvPr/>
        </p:nvSpPr>
        <p:spPr>
          <a:xfrm>
            <a:off x="3794760" y="4617720"/>
            <a:ext cx="125730" cy="1188720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4" name="Shape 22"/>
          <p:cNvSpPr/>
          <p:nvPr/>
        </p:nvSpPr>
        <p:spPr>
          <a:xfrm>
            <a:off x="4023360" y="4914900"/>
            <a:ext cx="125730" cy="594360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5" name="Shape 23"/>
          <p:cNvSpPr/>
          <p:nvPr/>
        </p:nvSpPr>
        <p:spPr>
          <a:xfrm>
            <a:off x="4251960" y="5033772"/>
            <a:ext cx="125730" cy="356616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4825746"/>
            <a:ext cx="125730" cy="772668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4706874"/>
            <a:ext cx="125730" cy="1010412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4944618"/>
            <a:ext cx="125730" cy="534924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29" name="Shape 27"/>
          <p:cNvSpPr/>
          <p:nvPr/>
        </p:nvSpPr>
        <p:spPr>
          <a:xfrm>
            <a:off x="5166360" y="4855464"/>
            <a:ext cx="125730" cy="713232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30" name="Shape 28"/>
          <p:cNvSpPr/>
          <p:nvPr/>
        </p:nvSpPr>
        <p:spPr>
          <a:xfrm>
            <a:off x="5394960" y="4647438"/>
            <a:ext cx="125730" cy="1129284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31" name="Shape 29"/>
          <p:cNvSpPr/>
          <p:nvPr/>
        </p:nvSpPr>
        <p:spPr>
          <a:xfrm>
            <a:off x="5623560" y="4914900"/>
            <a:ext cx="125730" cy="594360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32" name="Shape 30"/>
          <p:cNvSpPr/>
          <p:nvPr/>
        </p:nvSpPr>
        <p:spPr>
          <a:xfrm>
            <a:off x="5852160" y="5004054"/>
            <a:ext cx="125730" cy="416052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33" name="Shape 31"/>
          <p:cNvSpPr/>
          <p:nvPr/>
        </p:nvSpPr>
        <p:spPr>
          <a:xfrm>
            <a:off x="6080760" y="4885182"/>
            <a:ext cx="125730" cy="653796"/>
          </a:xfrm>
          <a:prstGeom prst="rect">
            <a:avLst/>
          </a:prstGeom>
          <a:solidFill>
            <a:srgbClr val="CFE6E4"/>
          </a:solidFill>
          <a:ln/>
        </p:spPr>
      </p:sp>
      <p:sp>
        <p:nvSpPr>
          <p:cNvPr id="34" name="Shape 32"/>
          <p:cNvSpPr/>
          <p:nvPr/>
        </p:nvSpPr>
        <p:spPr>
          <a:xfrm>
            <a:off x="3063240" y="507492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1965960"/>
            <a:ext cx="47548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59168" y="2185416"/>
            <a:ext cx="457200" cy="45720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059168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7680960" y="2130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Machine Health Monitoring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680960" y="25146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acoustic + vibration tracking of running equipment.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3502152"/>
            <a:ext cx="47548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9168" y="3721608"/>
            <a:ext cx="457200" cy="45720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059168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7680960" y="36667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Defect Detection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680960" y="405079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structural cracks and material fatigue from sound signatures.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5038344"/>
            <a:ext cx="47548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59168" y="5257800"/>
            <a:ext cx="457200" cy="45720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05916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7680960" y="52029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Scheduling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680960" y="558698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failure probability to plan maintenance before breakdown.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TRADITIONAL INSPECTION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rely heavily on visual inspection — internal cracks in metal components remain completely invisible.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5054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Micro-fractures develop deep inside metal parts long before total failure occurs.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6382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highly time-consuming and prone to human error.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6675120" cy="196596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891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0916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machine breakdowns cause massive production loss. Traditional sensors often miss early-stage defects, pushing plants into reactive — and expensive — maintenance instead of predictive maintenance.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3800" y="1554480"/>
            <a:ext cx="40690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724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cracks: undetectable by eye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520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40507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today = after failure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4846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53766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drains output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 to Diagnosis: Where the Field Stands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vs. ACOUSTIC INSPECTION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75104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is heavily researched for surface defects, but recent literature emphasizes acoustic/vibration signals for detecting sub-surface anomalies (e.g., internal bearing wear).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AI IN MANUFACTURING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7510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</a:t>
            </a: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Digital Signal Processing (DSP)
</a:t>
            </a: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Trend: </a:t>
            </a: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analyzing Mel-Spectrograms (Koizumi et al., MIMII dataset)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91672" cy="283464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 IN LITERATURE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862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can detect that an anomaly exists — but struggle to explain what the defect is, or predict when it will fail.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10543032" cy="0"/>
          </a:xfrm>
          <a:prstGeom prst="line">
            <a:avLst/>
          </a:prstGeom>
          <a:noFill/>
          <a:ln w="12700">
            <a:solidFill>
              <a:srgbClr val="2A39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BRIDGE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93792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bridges that gap by combining CNNs for defect detection with clustering and predictive algorithms for Remaining Useful Life (RUL) estimation.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EXPECTED OUTCOMES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Building, and What It Delivers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  —  PLATFORM FEATURES F01–F07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766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3911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Crack Prediction Engine and Acoustic Defect Detector.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6766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3291840"/>
            <a:ext cx="502920" cy="50292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5526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Maintenance Scheduler with AI-based failure alerts.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6766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4507992"/>
            <a:ext cx="502920" cy="50292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7141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Digital Maintenance History and Industrial Dashboard.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43800" y="1508760"/>
            <a:ext cx="4069080" cy="466344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181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KPIs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Downtime ↓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26243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machine downtime hours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↑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3995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detection accuracy for early-stage defects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↓ / RUL ↑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53675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 cost, extend Remaining Useful Life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 DIAGRAM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8869680" y="1280160"/>
            <a:ext cx="2743200" cy="4663440"/>
          </a:xfrm>
          <a:prstGeom prst="rect">
            <a:avLst/>
          </a:prstGeom>
          <a:solidFill>
            <a:srgbClr val="E3F3F1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525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52560" y="2249424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53728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ML Model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253728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abnormal sound patterns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52560" y="3118104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53728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253728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specific defect signatures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52560" y="3986784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53728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253728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component life (RUL)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F2C9A38-DB77-EDDF-EE23-45A7801D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1" y="1124712"/>
            <a:ext cx="5680579" cy="53652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A11A2-7E5D-C8DB-F78C-854957DA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42">
            <a:extLst>
              <a:ext uri="{FF2B5EF4-FFF2-40B4-BE49-F238E27FC236}">
                <a16:creationId xmlns:a16="http://schemas.microsoft.com/office/drawing/2014/main" id="{69E1C22B-209A-ED7B-E9A3-DE446CD72994}"/>
              </a:ext>
            </a:extLst>
          </p:cNvPr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DC701B4-78DB-0D84-7D38-EFF2BD92D340}"/>
              </a:ext>
            </a:extLst>
          </p:cNvPr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E8382D0-D140-6546-4143-0CBD80C53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19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TECHNOLOGY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Intelligence Is Built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96012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SIGNAL PROCESSING LAYER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and SciPy convert raw .wav sound/vibration data into 2D Mel-Spectrograms and extract feature vectors (MFCCs, Spectral Energy).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—  TensorFlow / Scikit-Learn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27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Supervised CNN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spatial features from spectrogram images for binary anomaly detection: Defective vs. Healthy.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182112"/>
            <a:ext cx="457200" cy="457200"/>
          </a:xfrm>
          <a:prstGeom prst="ellipse">
            <a:avLst/>
          </a:prstGeom>
          <a:solidFill>
            <a:srgbClr val="E3F3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127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Unsupervised K-Means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611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defective feature vectors into mathematical clusters to classify the physical fault type — Micro Crack, Material Fatigue, Leak.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91672" cy="1325880"/>
          </a:xfrm>
          <a:prstGeom prst="rect">
            <a:avLst/>
          </a:prstGeom>
          <a:solidFill>
            <a:srgbClr val="E3F3F1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10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COMMUNICATION LAYER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32180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real-time processing simulating Raspberry Pi edge environments, using WebSockets (future MQTT) for device messaging.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Complete: 40%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822960"/>
            <a:ext cx="3749040" cy="384048"/>
          </a:xfrm>
          <a:prstGeom prst="rect">
            <a:avLst/>
          </a:prstGeom>
          <a:solidFill>
            <a:srgbClr val="E3F3F1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822960"/>
            <a:ext cx="1499616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0" y="1243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COMPLETE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7D3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8013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Engine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3774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applies 100Hz–5000Hz bandpass filters and generates spectrograms dynamically.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27D3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18013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Trained &amp; Integrated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3774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Anomaly Detector and Diagnostic Clustering models successfully deployed in backend app.py.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27D3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0416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Thread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6177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samples from the dataset every 5 seconds, processes audio, and performs live inference.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8404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069080"/>
            <a:ext cx="457200" cy="457200"/>
          </a:xfrm>
          <a:prstGeom prst="ellipse">
            <a:avLst/>
          </a:prstGeom>
          <a:solidFill>
            <a:srgbClr val="27D3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0416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6177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real-time Digital Twins, dynamic RUL calculations, unique part tagging (e.g., VLV-ERR-A9F2), and a live Acoustic Intelligence Engine log.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DISCUSSION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 to Predictive Maintenance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RESULTS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successfully identifies malfunctioning audio signatures in milliseconds, proving the viability of Edge AI deployment.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VALIDATION (PCA)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965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was validated using Principal Component Analysis. The scatter plot confirmed 3 distinct, mathematically separated families of machine defects — with no human labeling.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91672" cy="1417320"/>
          </a:xfrm>
          <a:prstGeom prst="rect">
            <a:avLst/>
          </a:prstGeom>
          <a:solidFill>
            <a:srgbClr val="121A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VARIES BY DEFECT SIGNATURE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3794760"/>
            <a:ext cx="0" cy="868680"/>
          </a:xfrm>
          <a:prstGeom prst="line">
            <a:avLst/>
          </a:prstGeom>
          <a:noFill/>
          <a:ln w="12700">
            <a:solidFill>
              <a:srgbClr val="2A39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hours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assigned to “Micro Cracks”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794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hours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assigned to “Material Fatigue”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83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by calculating RUL dynamically per defect signature, the platform moves beyond simple anomaly detection to true Predictive Maintenance.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SDG ALIGNMENT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Predictive Quality Inspection Platform for Industry 4.0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417320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29968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successfully developed the core architecture of an Industry 4.0 Predictive Quality Inspection Platform. It effectively solves the problem of invisible internal defects by utilizing AI-powered acoustic analysis — reducing reliance on slow visual/manual inspections.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5120640" cy="2286000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160520"/>
            <a:ext cx="822960" cy="822960"/>
          </a:xfrm>
          <a:prstGeom prst="ellipse">
            <a:avLst/>
          </a:prstGeom>
          <a:solidFill>
            <a:srgbClr val="27D3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Infrastructure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5074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resilient and smart industrial infrastructure.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886200"/>
            <a:ext cx="5120640" cy="2286000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4160520"/>
            <a:ext cx="822960" cy="822960"/>
          </a:xfrm>
          <a:prstGeom prst="ellipse">
            <a:avLst/>
          </a:prstGeom>
          <a:solidFill>
            <a:srgbClr val="27D3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&amp; Production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5074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efficient resource utilization by extending equipment life and reducing scrap metal.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100% Completion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move toward 100% completion — aligning with the VIT-IND-03 architecture — our roadmap includes: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925726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64792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165140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688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Sensor Integration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16514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onto a physical Raspberry Pi (Edge AI); integrate Vibration, Temperature, and Pressure sensors to fuse with acoustic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40126" y="1600200"/>
            <a:ext cx="1925726" cy="4526280"/>
          </a:xfrm>
          <a:prstGeom prst="rect">
            <a:avLst/>
          </a:prstGeom>
          <a:solidFill>
            <a:srgbClr val="121A24"/>
          </a:solidFill>
          <a:ln w="12700">
            <a:solidFill>
              <a:srgbClr val="121A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7286" y="1764792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977286" y="2331720"/>
            <a:ext cx="1651406" cy="0"/>
          </a:xfrm>
          <a:prstGeom prst="line">
            <a:avLst/>
          </a:prstGeom>
          <a:noFill/>
          <a:ln w="12700">
            <a:solidFill>
              <a:srgbClr val="2A39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7286" y="24688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Time-Series AI (LSTM)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77286" y="3291840"/>
            <a:ext cx="16514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LSTM neural networks to analyze historical degradation trends for pinpoint-accurate failure dating.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31613" y="1600200"/>
            <a:ext cx="1925726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68773" y="1764792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268773" y="2331720"/>
            <a:ext cx="165140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8773" y="24688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Database Implementation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268773" y="3291840"/>
            <a:ext cx="16514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scalable PostgreSQL/MongoDB storing TBL_SENSOR_READING_LOG, TBL_MACHINE_MASTER, TBL_DEFECT_CATEGORY_MASTER.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23099" y="1600200"/>
            <a:ext cx="1925726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60259" y="1764792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560259" y="2331720"/>
            <a:ext cx="165140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0259" y="24688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Communication Protocol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60259" y="3291840"/>
            <a:ext cx="16514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WebSockets with standard MQTT for robust, low-bandwidth device-to-device messaging on the factory floor.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714586" y="1600200"/>
            <a:ext cx="1925726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51746" y="1764792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851746" y="2331720"/>
            <a:ext cx="165140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51746" y="24688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(Kubernetes)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51746" y="3291840"/>
            <a:ext cx="16514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application for industrial-scale deployment on a Kubernetes cluster.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7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3032" cy="914400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74520"/>
            <a:ext cx="9537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VIT-IND-03 PRD — Smart Manufacturing: Acoustic AI-Based Metal Parts Quality Inspection.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3512"/>
            <a:ext cx="10543032" cy="914400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95351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953512"/>
            <a:ext cx="9537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Koizumi, Y., et al. (2019). MIMII Dataset: Sound Dataset for Malfunctioning Industrial Machine Investigation and Inspection. Workshop on Detection and Classification of Acoustic Scenes and Events.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032504"/>
            <a:ext cx="10543032" cy="914400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3250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032504"/>
            <a:ext cx="9537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McFee, B., et al. (2015). librosa: Audio and Music Signal Analysis in Python.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111496"/>
            <a:ext cx="10543032" cy="914400"/>
          </a:xfrm>
          <a:prstGeom prst="rect">
            <a:avLst/>
          </a:prstGeom>
          <a:solidFill>
            <a:srgbClr val="1B2733"/>
          </a:solidFill>
          <a:ln w="12700">
            <a:solidFill>
              <a:srgbClr val="2A39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11149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[4]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111496"/>
            <a:ext cx="9537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Core documentation &amp; Scikit-Learn Machine Learning in Python guidelines.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Predictive Quality Inspection Platform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1241</Words>
  <Application>Microsoft Office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 Ghotkar</cp:lastModifiedBy>
  <cp:revision>2</cp:revision>
  <dcterms:created xsi:type="dcterms:W3CDTF">2026-09-23T13:39:48Z</dcterms:created>
  <dcterms:modified xsi:type="dcterms:W3CDTF">2026-09-23T14:14:52Z</dcterms:modified>
</cp:coreProperties>
</file>